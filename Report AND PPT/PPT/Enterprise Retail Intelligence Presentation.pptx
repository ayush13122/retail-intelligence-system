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265039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64748B"/>
                </a:solidFill>
                <a:latin typeface="Open Sans"/>
              </a:rPr>
              <a:t>SUMMER TRAINING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34579"/>
            <a:ext cx="116014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004B87"/>
                </a:solidFill>
                <a:latin typeface="Roboto"/>
              </a:rPr>
              <a:t>ENTERPRISE RETAIL</a:t>
            </a:r>
            <a:r>
              <a:t>
</a:t>
            </a:r>
            <a:r>
              <a:rPr sz="4200" b="1" i="0" u="none">
                <a:solidFill>
                  <a:srgbClr val="004B87"/>
                </a:solidFill>
                <a:latin typeface="Roboto"/>
              </a:rPr>
              <a:t> 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51720"/>
            <a:ext cx="11049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64748B"/>
                </a:solidFill>
                <a:latin typeface="Open Sans"/>
              </a:rPr>
              <a:t>Oracle SQL Relational Warehousing, RFM Feature Engineering,</a:t>
            </a:r>
            <a:r>
              <a:t>
</a:t>
            </a:r>
            <a:r>
              <a:rPr sz="1800" b="0" i="0" u="none">
                <a:solidFill>
                  <a:srgbClr val="64748B"/>
                </a:solidFill>
                <a:latin typeface="Open Sans"/>
              </a:rPr>
              <a:t> and Unsupervised K-Means Machine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477000"/>
            <a:ext cx="1171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Academic Session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497437"/>
            <a:ext cx="10820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Submitted by: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Ayush Raj (Reg. No: 12315673)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849862"/>
            <a:ext cx="10820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Course / Mentor: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CSE343 | Avinash Kaur Mam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202287"/>
            <a:ext cx="10820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Institution: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School of Computer Science &amp; Engineering, LPU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0050"/>
            <a:ext cx="11049000" cy="5467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5583" y="1921222"/>
            <a:ext cx="666083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004B87"/>
                </a:solidFill>
                <a:latin typeface="Roboto"/>
              </a:rPr>
              <a:t>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0" y="3111847"/>
            <a:ext cx="1143000" cy="571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6625" y="3702397"/>
            <a:ext cx="52387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Open Sans"/>
              </a:rPr>
              <a:t>Institutional Background &amp; 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91900" y="6477000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Roboto"/>
              </a:rPr>
              <a:t>Chapter 1: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525"/>
            <a:ext cx="5286375" cy="395644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533525"/>
            <a:ext cx="5286375" cy="39564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1914525"/>
            <a:ext cx="469058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371725"/>
            <a:ext cx="44672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Modern enterprise retail platforms generate massive transaction logs containing missing records and varied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366045"/>
            <a:ext cx="44672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Standard transactional tables cannot identify at-risk customers or distinguish high-value shoppers without automated calculation triggers, feature normalization, and machine learning segmentation.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1914525"/>
            <a:ext cx="469058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2343150"/>
            <a:ext cx="4181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Architect a normalized Star Schema with Fact and Dimension tables enforcing strict integrity.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034605"/>
            <a:ext cx="4181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Compile automated row-level PL/SQL triggers for dynamic line spend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726060"/>
            <a:ext cx="4181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Aggregate raw data into 3D customer RFM (Recency, Frequency, Monetary) vectors.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4417516"/>
            <a:ext cx="4181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Train unsupervised K-Means clustering models to segment shoppers.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Context &amp; Core Objectives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2362200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3053655"/>
            <a:ext cx="857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3745110"/>
            <a:ext cx="857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4436566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525"/>
            <a:ext cx="3492549" cy="37507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533525"/>
            <a:ext cx="3492549" cy="37507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533525"/>
            <a:ext cx="3492549" cy="37507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5717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171825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Multi-platform rendering featuring a Streamlit Web Dashboard and a standalone Tkinter Desktop GUI for real-time visual analytics and KPI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25717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Analytical &amp; ML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171825"/>
            <a:ext cx="290199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Engineered Python pipelines for RFM feature extraction, mathematical Z-score normalization via StandardScaler, and unsupervised K-Means clustering.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25717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Persistent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171825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Relational storage utilizing Star Schema architecture (Fact/Dim tables) managed by SQLite, supplemented by robust CSV export pipelines.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933575"/>
            <a:ext cx="42862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1933575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1933575"/>
            <a:ext cx="333375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Decoupled System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533525"/>
            <a:ext cx="5286375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8100" y="647700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Database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533525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Star Schema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90725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The schema maintains clear boundaries between master entities (Customers, Products) and transactional facts. To guarantee consistency without application overhead, we deployed automated database triggers.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278385"/>
            <a:ext cx="5286375" cy="1076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625" y="3516510"/>
            <a:ext cx="4810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Courier New"/>
              </a:rPr>
              <a:t>CREATE OR REPLACE TRIGGER trg_calc_total BEFORE INSERT ON fact_transactions FOR EACH ROW BEGIN :NEW.total_amount := :NEW.quantity * :NEW.unit_price; END;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278385"/>
            <a:ext cx="57150" cy="10763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543050"/>
            <a:ext cx="5267325" cy="3790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Database Engineering &amp; PL/SQL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525"/>
            <a:ext cx="3492549" cy="2095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533525"/>
            <a:ext cx="3492549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533525"/>
            <a:ext cx="3492549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19525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Recency (R)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276725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Calculated as the total number of days elapsed since the customer's last recorded transaction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9799" y="3819525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Frequency (F)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799" y="4276725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Aggregated distinct count of unique invoice numbers associated with each individual customer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99" y="3819525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Monetary (M)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99" y="4276725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The absolute sum of total spend across the entire customer lifetime value (CLV) history.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638300"/>
            <a:ext cx="3282999" cy="1885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574" y="1638300"/>
            <a:ext cx="3282999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Feature Engineering (RFM Model)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D15624-87D9-FCAC-884A-B3F94D6A80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99" y="1533525"/>
            <a:ext cx="3454302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533525"/>
            <a:ext cx="5286375" cy="1752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658" y="1939157"/>
            <a:ext cx="1979721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33525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Standardizing Scale Dominance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99072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Because 'Monetary' values range in the thousands while 'Recency' operates in single days, raw Euclidean distance calculations in K-Means become distorted.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98504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We applied Z-score standardization (StandardScaler) to mathematically normalize the distributions, assigning equal weight to all three RFM dimensions before clustering.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2016" y="1952625"/>
            <a:ext cx="473059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334155"/>
                </a:solidFill>
                <a:latin typeface="Roboto"/>
              </a:rPr>
              <a:t>Z-Score Formula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416" y="2525315"/>
            <a:ext cx="1026169" cy="345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Machine Learning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525"/>
            <a:ext cx="5286375" cy="1552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67100"/>
            <a:ext cx="5286375" cy="155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1779389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34155"/>
                </a:solidFill>
                <a:latin typeface="Roboto"/>
              </a:rPr>
              <a:t>Robust Pipeline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2236589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The automated ETL pipeline successfully ingested, cleaned, and processed the raw dataset, isolating viable customer records and filtering out invalid transactions (e.g., negative quantities or missing IDs).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3505200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The K-Means clustering algorithm successfully separated the customer base, achieving a validated mathematical </a:t>
            </a:r>
            <a:r>
              <a:rPr sz="1350" b="1" i="0" u="none">
                <a:solidFill>
                  <a:srgbClr val="475569"/>
                </a:solidFill>
                <a:latin typeface="Open Sans"/>
              </a:rPr>
              <a:t>Silhouette Score of 0.3789</a:t>
            </a:r>
            <a:r>
              <a:rPr sz="1350" b="0" i="0" u="none">
                <a:solidFill>
                  <a:srgbClr val="475569"/>
                </a:solidFill>
                <a:latin typeface="Open Sans"/>
              </a:rPr>
              <a:t>, indicating statistically significant cluster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828800"/>
            <a:ext cx="4629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04B87"/>
                </a:solidFill>
                <a:latin typeface="Roboto"/>
              </a:rPr>
              <a:t>$121,314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2533650"/>
            <a:ext cx="4629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Open Sans SemiBold"/>
              </a:rPr>
              <a:t>TOTAL REVENUE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762375"/>
            <a:ext cx="4629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04B87"/>
                </a:solidFill>
                <a:latin typeface="Roboto"/>
              </a:rPr>
              <a:t>2,733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467225"/>
            <a:ext cx="4629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Open Sans SemiBold"/>
              </a:rPr>
              <a:t>TOTAL INVOICES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System Performance &amp; KPIs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533525"/>
            <a:ext cx="11049000" cy="349165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" y="1533525"/>
          <a:ext cx="11039474" cy="3491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29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pen Sans"/>
                        </a:rPr>
                        <a:t>Customer 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pen Sans"/>
                        </a:rPr>
                        <a:t>Population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pen Sans"/>
                        </a:rPr>
                        <a:t>Strategic Business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B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9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Open Sans"/>
                        </a:rPr>
                        <a:t>Mid-Tier / Potential Loyal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1,412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Moderate recency and order frequency; identified as the ideal target base for product cross-selling initiatives.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9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Open Sans"/>
                        </a:rPr>
                        <a:t>Low Value / Hibernating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1,277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High recency (inactive) with low cumulative spend; primary targets for automated email re-engagement campaigns.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9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Open Sans"/>
                        </a:rPr>
                        <a:t>High Value / Champions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641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Open Sans"/>
                        </a:rPr>
                        <a:t>Highest spend and frequent orders; prime candidates for VIP loyalty perks and early access programs.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Customer Segment Cohorts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525"/>
            <a:ext cx="11049000" cy="4524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4275" y="6477000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Distribution Proportions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Cohort Distribution Proportions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0475" y="647700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Challenges &amp;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533525"/>
            <a:ext cx="11049000" cy="13010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724025"/>
            <a:ext cx="10287000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Open Sans"/>
              </a:rPr>
              <a:t>Feature Scale Dominance</a:t>
            </a:r>
            <a:r>
              <a:rPr sz="1350" b="0" i="0" u="none">
                <a:solidFill>
                  <a:srgbClr val="475569"/>
                </a:solidFill>
                <a:latin typeface="Open Sans"/>
              </a:rPr>
              <a:t> Monetary spend ranged in thousands while Recency ranged in days, heavily distorting Euclidean distance metrics. This was successfully mitigated using Scikit-Learn's StandardScaler.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82505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1533525"/>
            <a:ext cx="47625" cy="1301055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1533525"/>
            <a:ext cx="9525" cy="13010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025080"/>
            <a:ext cx="11049000" cy="13010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215580"/>
            <a:ext cx="10287000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Open Sans"/>
              </a:rPr>
              <a:t>OS File Locking (Windows)</a:t>
            </a:r>
            <a:r>
              <a:rPr sz="1350" b="0" i="0" u="none">
                <a:solidFill>
                  <a:srgbClr val="475569"/>
                </a:solidFill>
                <a:latin typeface="Open Sans"/>
              </a:rPr>
              <a:t> Concurrent file reads/writes triggered PermissionErrors during ETL execution. We engineered robust path fallbacks and enforced in-memory data execution to bypass OS-level locks.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31661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02508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3025080"/>
            <a:ext cx="47625" cy="1301055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3025080"/>
            <a:ext cx="9525" cy="13010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516635"/>
            <a:ext cx="11049000" cy="13010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707135"/>
            <a:ext cx="10287000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Open Sans"/>
              </a:rPr>
              <a:t>UI Thread Latency</a:t>
            </a:r>
            <a:r>
              <a:rPr sz="1350" b="0" i="0" u="none">
                <a:solidFill>
                  <a:srgbClr val="475569"/>
                </a:solidFill>
                <a:latin typeface="Open Sans"/>
              </a:rPr>
              <a:t> Live model retraining severely lagged the Streamlit dashboard rendering. We resolved this by decoupling the heavy batch training pipeline from the frontend visualization components.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580816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451663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516635"/>
            <a:ext cx="47625" cy="1301055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4516635"/>
            <a:ext cx="9525" cy="13010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2575"/>
            <a:ext cx="85725" cy="1428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71500" y="282505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4130"/>
            <a:ext cx="85725" cy="14287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71500" y="431661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35685"/>
            <a:ext cx="85725" cy="14287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71500" y="580816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743075"/>
            <a:ext cx="28575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34630"/>
            <a:ext cx="200025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726185"/>
            <a:ext cx="200025" cy="2476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5905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4B87"/>
                </a:solidFill>
                <a:latin typeface="Roboto"/>
              </a:rPr>
              <a:t>Technical Challenges &amp; Solutions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43175"/>
            <a:ext cx="5715000" cy="23830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050"/>
            <a:ext cx="11049000" cy="5467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2225"/>
            <a:ext cx="12192000" cy="25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4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15515" y="316185"/>
            <a:ext cx="776097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004B87"/>
                </a:solidFill>
                <a:latin typeface="Roboto"/>
              </a:rPr>
              <a:t>Conclusion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973633"/>
            <a:ext cx="762000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Open Sans"/>
              </a:rPr>
              <a:t>The system successfully bridges relational database engineering, RFM feature transformation, and Unsupervised K-Means clustering into a cohesive enterprise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3511" y="5190007"/>
            <a:ext cx="990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 dirty="0">
                <a:solidFill>
                  <a:srgbClr val="1E293B"/>
                </a:solidFill>
                <a:latin typeface="Open San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4287" y="5920236"/>
            <a:ext cx="28575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475569"/>
                </a:solidFill>
                <a:latin typeface="Open Sans"/>
              </a:rPr>
              <a:t>Ayush Raj | Reg. No: 12315673 | CSE343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47700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Roboto"/>
              </a:rPr>
              <a:t>Lovely Professional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3775" y="2867025"/>
            <a:ext cx="538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4B87"/>
                </a:solidFill>
                <a:latin typeface="Roboto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9525" y="3238500"/>
            <a:ext cx="4838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Automate dynamic K-selection via programmatic Elbow sweeps.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9525" y="3863280"/>
            <a:ext cx="4838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Scale warehouse architecture to Snowflake/PostgreSQL.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9525" y="4213770"/>
            <a:ext cx="4838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Integrate XGBoost for supervised churn prediction.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3257550"/>
            <a:ext cx="857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3882330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4232820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799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Open Sans</vt:lpstr>
      <vt:lpstr>Open Sans SemiBold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Raj Singh</dc:creator>
  <cp:keywords/>
  <dc:description>generated using python-pptx</dc:description>
  <cp:lastModifiedBy>Ayush Raj Singh</cp:lastModifiedBy>
  <cp:revision>2</cp:revision>
  <dcterms:created xsi:type="dcterms:W3CDTF">2013-01-27T09:14:16Z</dcterms:created>
  <dcterms:modified xsi:type="dcterms:W3CDTF">2026-08-29T18:36:46Z</dcterms:modified>
  <cp:category/>
</cp:coreProperties>
</file>